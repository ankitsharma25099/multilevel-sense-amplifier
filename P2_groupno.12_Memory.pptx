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jfpp6NCAnOr6gvJmpZdDs0vfN8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obj">
  <p:cSld name="OBJEC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3EADA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15500" y="4749800"/>
            <a:ext cx="2476499" cy="210819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9"/>
          <p:cNvSpPr/>
          <p:nvPr/>
        </p:nvSpPr>
        <p:spPr>
          <a:xfrm>
            <a:off x="914400" y="3089628"/>
            <a:ext cx="10363200" cy="0"/>
          </a:xfrm>
          <a:custGeom>
            <a:rect b="b" l="l" r="r" t="t"/>
            <a:pathLst>
              <a:path extrusionOk="0" h="120000" w="10363200">
                <a:moveTo>
                  <a:pt x="0" y="0"/>
                </a:moveTo>
                <a:lnTo>
                  <a:pt x="10363199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534784"/>
            <a:ext cx="3014163" cy="165885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9"/>
          <p:cNvSpPr txBox="1"/>
          <p:nvPr>
            <p:ph type="title"/>
          </p:nvPr>
        </p:nvSpPr>
        <p:spPr>
          <a:xfrm>
            <a:off x="918151" y="453953"/>
            <a:ext cx="326453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rgbClr val="3EADA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918151" y="453953"/>
            <a:ext cx="326453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rgbClr val="3EADA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rgbClr val="3EADA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918151" y="453953"/>
            <a:ext cx="326453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rgbClr val="3EADA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694747" y="4789713"/>
            <a:ext cx="2497252" cy="206828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8"/>
          <p:cNvSpPr/>
          <p:nvPr/>
        </p:nvSpPr>
        <p:spPr>
          <a:xfrm>
            <a:off x="845126" y="1191931"/>
            <a:ext cx="10515600" cy="0"/>
          </a:xfrm>
          <a:custGeom>
            <a:rect b="b" l="l" r="r" t="t"/>
            <a:pathLst>
              <a:path extrusionOk="0" h="120000"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noFill/>
          <a:ln cap="flat" cmpd="sng" w="9525">
            <a:solidFill>
              <a:srgbClr val="3DAB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6827" y="555008"/>
            <a:ext cx="695324" cy="447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8"/>
          <p:cNvSpPr txBox="1"/>
          <p:nvPr>
            <p:ph type="title"/>
          </p:nvPr>
        </p:nvSpPr>
        <p:spPr>
          <a:xfrm>
            <a:off x="918151" y="453953"/>
            <a:ext cx="326453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3EADA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" type="body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8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title"/>
          </p:nvPr>
        </p:nvSpPr>
        <p:spPr>
          <a:xfrm>
            <a:off x="0" y="2029231"/>
            <a:ext cx="12192000" cy="843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Multilevel Sense Amplifier</a:t>
            </a:r>
            <a:endParaRPr sz="5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5472475" y="3875800"/>
            <a:ext cx="4526400" cy="16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Members : </a:t>
            </a:r>
            <a:br>
              <a:rPr b="0" i="0" lang="en-US" sz="2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Aman Rupain (MT24172)</a:t>
            </a:r>
            <a:br>
              <a:rPr b="0" i="0" lang="en-US" sz="2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Ankit Sharma (MT25099)</a:t>
            </a:r>
            <a:br>
              <a:rPr b="0" i="0" lang="en-US" sz="2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Drashi Jain (MT25114)</a:t>
            </a:r>
            <a:endParaRPr b="0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791022" y="3546197"/>
            <a:ext cx="294277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Number: 12 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5387800" y="5675175"/>
            <a:ext cx="5175900" cy="10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Course: Memory Design And Test</a:t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Prof.: Dr Anuj Grover</a:t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title"/>
          </p:nvPr>
        </p:nvSpPr>
        <p:spPr>
          <a:xfrm>
            <a:off x="838200" y="506040"/>
            <a:ext cx="69069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838200" y="1676925"/>
            <a:ext cx="103923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sense amplifier should have multiple outputs for different values of bit line voltage.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offset should be 50 mV at 0.9 V supply, with a response time of 150 ps at the output latch.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 3σ Monte Carlo analysis for robustness verification.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normal and common-centroid layout implementations.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918151" y="453953"/>
            <a:ext cx="85305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Schematic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025" y="1264250"/>
            <a:ext cx="8834975" cy="49949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3565200" y="6259200"/>
            <a:ext cx="2598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Decoder Design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918151" y="453953"/>
            <a:ext cx="85305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Schematic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" name="Google Shape;77;p4"/>
          <p:cNvPicPr preferRelativeResize="0"/>
          <p:nvPr/>
        </p:nvPicPr>
        <p:blipFill rotWithShape="1">
          <a:blip r:embed="rId3">
            <a:alphaModFix/>
          </a:blip>
          <a:srcRect b="6112" l="0" r="1215" t="0"/>
          <a:stretch/>
        </p:blipFill>
        <p:spPr>
          <a:xfrm>
            <a:off x="354563" y="1490337"/>
            <a:ext cx="5508000" cy="46843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8" name="Google Shape;7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6196" y="1708632"/>
            <a:ext cx="5887278" cy="440291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918151" y="453953"/>
            <a:ext cx="326453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Layout</a:t>
            </a:r>
            <a:endParaRPr/>
          </a:p>
        </p:txBody>
      </p:sp>
      <p:pic>
        <p:nvPicPr>
          <p:cNvPr descr="Screenshot 2026-04-10 035233.png" id="84" name="Google Shape;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5127" y="1357768"/>
            <a:ext cx="5893260" cy="5145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918151" y="453953"/>
            <a:ext cx="326453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DRC/LVS</a:t>
            </a:r>
            <a:endParaRPr/>
          </a:p>
        </p:txBody>
      </p:sp>
      <p:pic>
        <p:nvPicPr>
          <p:cNvPr descr="C:\Users\dell\OneDrive\Documents\WhatsApp Image 2026-04-10 at 06.11.42.jpeg"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946" y="1794912"/>
            <a:ext cx="5192405" cy="43270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4-10 035731.png" id="91" name="Google Shape;9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9942" y="1707503"/>
            <a:ext cx="6232972" cy="4376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>
            <p:ph type="title"/>
          </p:nvPr>
        </p:nvSpPr>
        <p:spPr>
          <a:xfrm>
            <a:off x="918151" y="649895"/>
            <a:ext cx="5687922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Common Centroid Layout</a:t>
            </a:r>
            <a:endParaRPr/>
          </a:p>
        </p:txBody>
      </p:sp>
      <p:pic>
        <p:nvPicPr>
          <p:cNvPr id="97" name="Google Shape;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5805" y="1335444"/>
            <a:ext cx="4054945" cy="5326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/>
          <p:nvPr>
            <p:ph type="title"/>
          </p:nvPr>
        </p:nvSpPr>
        <p:spPr>
          <a:xfrm>
            <a:off x="918151" y="453953"/>
            <a:ext cx="326453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103" name="Google Shape;1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974" y="1523418"/>
            <a:ext cx="5868559" cy="3636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2453" y="1442261"/>
            <a:ext cx="5598756" cy="365225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8"/>
          <p:cNvSpPr/>
          <p:nvPr/>
        </p:nvSpPr>
        <p:spPr>
          <a:xfrm>
            <a:off x="2145489" y="5327847"/>
            <a:ext cx="17459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1.2 v response time</a:t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8578775" y="5309185"/>
            <a:ext cx="1547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1.2 offset voltage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/>
          <p:nvPr>
            <p:ph type="title"/>
          </p:nvPr>
        </p:nvSpPr>
        <p:spPr>
          <a:xfrm>
            <a:off x="918151" y="453953"/>
            <a:ext cx="326453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112" name="Google Shape;11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110" y="1684663"/>
            <a:ext cx="5886119" cy="376437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9"/>
          <p:cNvSpPr/>
          <p:nvPr/>
        </p:nvSpPr>
        <p:spPr>
          <a:xfrm>
            <a:off x="1799904" y="5691740"/>
            <a:ext cx="306846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 TIME 1.2 V SS-40 SA1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Mean-124p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Sd- 32.429p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0385" y="1718583"/>
            <a:ext cx="5831917" cy="366517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9"/>
          <p:cNvSpPr/>
          <p:nvPr/>
        </p:nvSpPr>
        <p:spPr>
          <a:xfrm>
            <a:off x="7706408" y="5486467"/>
            <a:ext cx="3155031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OFFSET VOLTAGE SS-40 FRO SA1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Mean-21.850p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Sd-11.457p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918151" y="453953"/>
            <a:ext cx="326453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121" name="Google Shape;12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326" y="1595794"/>
            <a:ext cx="5838005" cy="34613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0"/>
          <p:cNvSpPr/>
          <p:nvPr/>
        </p:nvSpPr>
        <p:spPr>
          <a:xfrm>
            <a:off x="1757550" y="5131903"/>
            <a:ext cx="2101857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RESPONSE TIME SA3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mean-196.8p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Sd-55.794p</a:t>
            </a:r>
            <a:endParaRPr/>
          </a:p>
        </p:txBody>
      </p:sp>
      <p:pic>
        <p:nvPicPr>
          <p:cNvPr id="123" name="Google Shape;12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5763" y="1614194"/>
            <a:ext cx="5714179" cy="33496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0"/>
          <p:cNvSpPr/>
          <p:nvPr/>
        </p:nvSpPr>
        <p:spPr>
          <a:xfrm>
            <a:off x="8169323" y="5078164"/>
            <a:ext cx="222849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OFFSET VOLTAGE SA3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mean-3.3891m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Sd-3.3314m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 txBox="1"/>
          <p:nvPr>
            <p:ph type="title"/>
          </p:nvPr>
        </p:nvSpPr>
        <p:spPr>
          <a:xfrm>
            <a:off x="918151" y="453953"/>
            <a:ext cx="326453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130" name="Google Shape;1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55" y="1568062"/>
            <a:ext cx="5529238" cy="371306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1"/>
          <p:cNvSpPr/>
          <p:nvPr/>
        </p:nvSpPr>
        <p:spPr>
          <a:xfrm>
            <a:off x="1992645" y="5458475"/>
            <a:ext cx="22846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SA2 response time at 1.2v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Mean-103.72p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Sd-18.804p</a:t>
            </a:r>
            <a:endParaRPr/>
          </a:p>
        </p:txBody>
      </p:sp>
      <p:pic>
        <p:nvPicPr>
          <p:cNvPr id="132" name="Google Shape;13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4711" y="1574446"/>
            <a:ext cx="5976540" cy="371601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1"/>
          <p:cNvSpPr/>
          <p:nvPr/>
        </p:nvSpPr>
        <p:spPr>
          <a:xfrm>
            <a:off x="8032017" y="5421153"/>
            <a:ext cx="207620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SA2 offset voltage 1.2 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Mean-28.4m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Sd-8.1705m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/>
          <p:nvPr>
            <p:ph type="title"/>
          </p:nvPr>
        </p:nvSpPr>
        <p:spPr>
          <a:xfrm>
            <a:off x="918151" y="453953"/>
            <a:ext cx="326453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762" y="1692405"/>
            <a:ext cx="5148264" cy="32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2"/>
          <p:cNvSpPr/>
          <p:nvPr/>
        </p:nvSpPr>
        <p:spPr>
          <a:xfrm>
            <a:off x="2164183" y="5047929"/>
            <a:ext cx="1507144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SA3  at 0.9V SS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 – 1.4554n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St. – 574.88P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2092" y="1632923"/>
            <a:ext cx="5660979" cy="335895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2"/>
          <p:cNvSpPr/>
          <p:nvPr/>
        </p:nvSpPr>
        <p:spPr>
          <a:xfrm>
            <a:off x="8663325" y="5066589"/>
            <a:ext cx="150874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offset at 0.9 SA3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mean-1.4089m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Sd-1.3634m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type="title"/>
          </p:nvPr>
        </p:nvSpPr>
        <p:spPr>
          <a:xfrm>
            <a:off x="918151" y="453953"/>
            <a:ext cx="326453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148" name="Google Shape;1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013" y="1820477"/>
            <a:ext cx="5489422" cy="346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1350" y="1791025"/>
            <a:ext cx="5750732" cy="361139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3"/>
          <p:cNvSpPr/>
          <p:nvPr/>
        </p:nvSpPr>
        <p:spPr>
          <a:xfrm>
            <a:off x="8085867" y="5635757"/>
            <a:ext cx="227177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SA1 RESPONSE AT 0.9V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Mean-1.2472n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Sd-561.14P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2054608" y="5383831"/>
            <a:ext cx="185820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OFFSET AT 0.9 SA1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Mean-6.36m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Sd-5.9535m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/>
          <p:cNvSpPr txBox="1"/>
          <p:nvPr>
            <p:ph type="title"/>
          </p:nvPr>
        </p:nvSpPr>
        <p:spPr>
          <a:xfrm>
            <a:off x="918151" y="453953"/>
            <a:ext cx="8530500" cy="14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1508175" y="5541625"/>
            <a:ext cx="3000000" cy="67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b00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7705138" y="5422875"/>
            <a:ext cx="3000000" cy="67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b11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9" name="Google Shape;1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1" y="1789430"/>
            <a:ext cx="5856224" cy="3315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6484" y="1779905"/>
            <a:ext cx="5748356" cy="3348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 txBox="1"/>
          <p:nvPr>
            <p:ph type="title"/>
          </p:nvPr>
        </p:nvSpPr>
        <p:spPr>
          <a:xfrm>
            <a:off x="918151" y="453953"/>
            <a:ext cx="8530500" cy="14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1508175" y="5541625"/>
            <a:ext cx="3000000" cy="67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b01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7716438" y="5592350"/>
            <a:ext cx="3000000" cy="67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b10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8" name="Google Shape;1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67" y="1886586"/>
            <a:ext cx="5586953" cy="353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4100" y="1928286"/>
            <a:ext cx="5842000" cy="3359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title"/>
          </p:nvPr>
        </p:nvSpPr>
        <p:spPr>
          <a:xfrm>
            <a:off x="918151" y="453953"/>
            <a:ext cx="6397049" cy="505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Work Distribution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978780" y="1563526"/>
            <a:ext cx="9620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 Distribution: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Schematic, functionality, layout, postlayout - Aman Rupain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X-circuit, layout, prelayout simulation - Ankit Sharma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Schematic, X-circuit, layout, prelayout simulation - Drashi Jain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899488" y="3522132"/>
            <a:ext cx="100329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References: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F. Husain, B. Iqbal, and A. Grover, “A 0.4 μA Offset, 6 ns Sensing-time Multi-level Sense Amplifier for Resistive Non-Volatile Memories in 65 nm LSTP Technology,” in Proc. 34th Int. Conf. VLSI Design and 20th Int. Conf. Embedded Systems (VLSID), 2021, pp. 76–81, doi: 10.1109/VLSID51830.2021.00018.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>
            <p:ph type="title"/>
          </p:nvPr>
        </p:nvSpPr>
        <p:spPr>
          <a:xfrm>
            <a:off x="67800" y="2029231"/>
            <a:ext cx="121920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5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5540275" y="3875800"/>
            <a:ext cx="45264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858822" y="3546197"/>
            <a:ext cx="29427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5455600" y="5675175"/>
            <a:ext cx="517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</cp:coreProperties>
</file>